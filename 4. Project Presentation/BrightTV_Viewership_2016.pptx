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9E5-4EF8-BEA4-9AD204694E9D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E5-4EF8-BEA4-9AD204694E9D}"/>
              </c:ext>
            </c:extLst>
          </c:dPt>
          <c:dPt>
            <c:idx val="2"/>
            <c:invertIfNegative val="0"/>
            <c:bubble3D val="0"/>
            <c:spPr>
              <a:solidFill>
                <a:srgbClr val="1A7F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E5-4EF8-BEA4-9AD204694E9D}"/>
              </c:ext>
            </c:extLst>
          </c:dPt>
          <c:dPt>
            <c:idx val="3"/>
            <c:invertIfNegative val="0"/>
            <c:bubble3D val="0"/>
            <c:spPr>
              <a:solidFill>
                <a:srgbClr val="1A7F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E5-4EF8-BEA4-9AD204694E9D}"/>
              </c:ext>
            </c:extLst>
          </c:dPt>
          <c:dPt>
            <c:idx val="4"/>
            <c:invertIfNegative val="0"/>
            <c:bubble3D val="0"/>
            <c:spPr>
              <a:solidFill>
                <a:srgbClr val="1A7F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9E5-4EF8-BEA4-9AD204694E9D}"/>
              </c:ext>
            </c:extLst>
          </c:dPt>
          <c:dPt>
            <c:idx val="5"/>
            <c:invertIfNegative val="0"/>
            <c:bubble3D val="0"/>
            <c:spPr>
              <a:solidFill>
                <a:srgbClr val="1A7F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9E5-4EF8-BEA4-9AD204694E9D}"/>
              </c:ext>
            </c:extLst>
          </c:dPt>
          <c:dPt>
            <c:idx val="6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9E5-4EF8-BEA4-9AD204694E9D}"/>
              </c:ext>
            </c:extLst>
          </c:dPt>
          <c:dPt>
            <c:idx val="7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9E5-4EF8-BEA4-9AD204694E9D}"/>
              </c:ext>
            </c:extLst>
          </c:dPt>
          <c:dPt>
            <c:idx val="8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9E5-4EF8-BEA4-9AD204694E9D}"/>
              </c:ext>
            </c:extLst>
          </c:dPt>
          <c:dPt>
            <c:idx val="9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9E5-4EF8-BEA4-9AD204694E9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 Live</c:v>
                </c:pt>
                <c:pt idx="1">
                  <c:v>ICC Cricket WC</c:v>
                </c:pt>
                <c:pt idx="2">
                  <c:v>Channel O</c:v>
                </c:pt>
                <c:pt idx="3">
                  <c:v>Trace TV</c:v>
                </c:pt>
                <c:pt idx="4">
                  <c:v>SS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Entertain.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1636</c:v>
                </c:pt>
                <c:pt idx="1">
                  <c:v>1463</c:v>
                </c:pt>
                <c:pt idx="2">
                  <c:v>1050</c:v>
                </c:pt>
                <c:pt idx="3">
                  <c:v>951</c:v>
                </c:pt>
                <c:pt idx="4">
                  <c:v>893</c:v>
                </c:pt>
                <c:pt idx="5">
                  <c:v>859</c:v>
                </c:pt>
                <c:pt idx="6">
                  <c:v>793</c:v>
                </c:pt>
                <c:pt idx="7">
                  <c:v>713</c:v>
                </c:pt>
                <c:pt idx="8">
                  <c:v>504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9E5-4EF8-BEA4-9AD204694E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Africa Magic</c:v>
                </c:pt>
                <c:pt idx="1">
                  <c:v>Boomerang</c:v>
                </c:pt>
                <c:pt idx="2">
                  <c:v>CNN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E! Entertainment</c:v>
                </c:pt>
                <c:pt idx="6">
                  <c:v>Supersport Live</c:v>
                </c:pt>
                <c:pt idx="7">
                  <c:v>ICC Cricket WC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585</c:v>
                </c:pt>
                <c:pt idx="1">
                  <c:v>497</c:v>
                </c:pt>
                <c:pt idx="2">
                  <c:v>364</c:v>
                </c:pt>
                <c:pt idx="3">
                  <c:v>521</c:v>
                </c:pt>
                <c:pt idx="4">
                  <c:v>777</c:v>
                </c:pt>
                <c:pt idx="5">
                  <c:v>239</c:v>
                </c:pt>
                <c:pt idx="6">
                  <c:v>1122</c:v>
                </c:pt>
                <c:pt idx="7">
                  <c:v>1003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9C-44DD-8941-809650E8D3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Africa Magic</c:v>
                </c:pt>
                <c:pt idx="1">
                  <c:v>Boomerang</c:v>
                </c:pt>
                <c:pt idx="2">
                  <c:v>CNN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E! Entertainment</c:v>
                </c:pt>
                <c:pt idx="6">
                  <c:v>Supersport Live</c:v>
                </c:pt>
                <c:pt idx="7">
                  <c:v>ICC Cricket WC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274</c:v>
                </c:pt>
                <c:pt idx="1">
                  <c:v>216</c:v>
                </c:pt>
                <c:pt idx="2">
                  <c:v>140</c:v>
                </c:pt>
                <c:pt idx="3">
                  <c:v>272</c:v>
                </c:pt>
                <c:pt idx="4">
                  <c:v>273</c:v>
                </c:pt>
                <c:pt idx="5">
                  <c:v>128</c:v>
                </c:pt>
                <c:pt idx="6">
                  <c:v>514</c:v>
                </c:pt>
                <c:pt idx="7">
                  <c:v>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9C-44DD-8941-809650E8D3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3E"/>
                </a:solidFill>
                <a:latin typeface="Arial"/>
              </a:rPr>
              <a:t>Gender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C04-4EDA-9B98-6E297A77061E}"/>
              </c:ext>
            </c:extLst>
          </c:dPt>
          <c:dPt>
            <c:idx val="1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C04-4EDA-9B98-6E297A77061E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7C04-4EDA-9B98-6E297A77061E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7C04-4EDA-9B98-6E297A77061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8753</c:v>
                </c:pt>
                <c:pt idx="1">
                  <c:v>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04-4EDA-9B98-6E297A770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3E"/>
                </a:solidFill>
                <a:latin typeface="Arial"/>
              </a:rPr>
              <a:t>Race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F3F-45E8-8015-46124CE256CF}"/>
              </c:ext>
            </c:extLst>
          </c:dPt>
          <c:dPt>
            <c:idx val="1"/>
            <c:bubble3D val="0"/>
            <c:spPr>
              <a:solidFill>
                <a:srgbClr val="F4A1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3F-45E8-8015-46124CE256CF}"/>
              </c:ext>
            </c:extLst>
          </c:dPt>
          <c:dPt>
            <c:idx val="2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3F-45E8-8015-46124CE256CF}"/>
              </c:ext>
            </c:extLst>
          </c:dPt>
          <c:dPt>
            <c:idx val="3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3F-45E8-8015-46124CE256CF}"/>
              </c:ext>
            </c:extLst>
          </c:dPt>
          <c:dPt>
            <c:idx val="4"/>
            <c:bubble3D val="0"/>
            <c:spPr>
              <a:solidFill>
                <a:srgbClr val="8B9B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3F-45E8-8015-46124CE256CF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F3F-45E8-8015-46124CE256CF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F3F-45E8-8015-46124CE256CF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F3F-45E8-8015-46124CE256CF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F3F-45E8-8015-46124CE256CF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EF3F-45E8-8015-46124CE256C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White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4331</c:v>
                </c:pt>
                <c:pt idx="1">
                  <c:v>1633</c:v>
                </c:pt>
                <c:pt idx="2">
                  <c:v>1575</c:v>
                </c:pt>
                <c:pt idx="3">
                  <c:v>1292</c:v>
                </c:pt>
                <c:pt idx="4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F3F-45E8-8015-46124CE25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BD-4E0B-9D95-0E07C8C1E6DC}"/>
              </c:ext>
            </c:extLst>
          </c:dPt>
          <c:dPt>
            <c:idx val="1"/>
            <c:invertIfNegative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BD-4E0B-9D95-0E07C8C1E6DC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BD-4E0B-9D95-0E07C8C1E6DC}"/>
              </c:ext>
            </c:extLst>
          </c:dPt>
          <c:dPt>
            <c:idx val="3"/>
            <c:invertIfNegative val="0"/>
            <c:bubble3D val="0"/>
            <c:spPr>
              <a:solidFill>
                <a:srgbClr val="F4A1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BD-4E0B-9D95-0E07C8C1E6DC}"/>
              </c:ext>
            </c:extLst>
          </c:dPt>
          <c:dPt>
            <c:idx val="4"/>
            <c:invertIfNegative val="0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BD-4E0B-9D95-0E07C8C1E6DC}"/>
              </c:ext>
            </c:extLst>
          </c:dPt>
          <c:dPt>
            <c:idx val="5"/>
            <c:invertIfNegative val="0"/>
            <c:bubble3D val="0"/>
            <c:spPr>
              <a:solidFill>
                <a:srgbClr val="57CC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BD-4E0B-9D95-0E07C8C1E6D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Under 18</c:v>
                </c:pt>
                <c:pt idx="1">
                  <c:v>18–24</c:v>
                </c:pt>
                <c:pt idx="2">
                  <c:v>25–34</c:v>
                </c:pt>
                <c:pt idx="3">
                  <c:v>35–44</c:v>
                </c:pt>
                <c:pt idx="4">
                  <c:v>45–54</c:v>
                </c:pt>
                <c:pt idx="5">
                  <c:v>55+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539</c:v>
                </c:pt>
                <c:pt idx="1">
                  <c:v>1484</c:v>
                </c:pt>
                <c:pt idx="2">
                  <c:v>4145</c:v>
                </c:pt>
                <c:pt idx="3">
                  <c:v>2629</c:v>
                </c:pt>
                <c:pt idx="4">
                  <c:v>926</c:v>
                </c:pt>
                <c:pt idx="5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BD-4E0B-9D95-0E07C8C1E6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Northern Cape</c:v>
                </c:pt>
                <c:pt idx="1">
                  <c:v>Free State</c:v>
                </c:pt>
                <c:pt idx="2">
                  <c:v>North West</c:v>
                </c:pt>
                <c:pt idx="3">
                  <c:v>Eastern Cape</c:v>
                </c:pt>
                <c:pt idx="4">
                  <c:v>Limpopo</c:v>
                </c:pt>
                <c:pt idx="5">
                  <c:v>Mpumalanga</c:v>
                </c:pt>
                <c:pt idx="6">
                  <c:v>KwaZulu Natal</c:v>
                </c:pt>
                <c:pt idx="7">
                  <c:v>Western Cape</c:v>
                </c:pt>
                <c:pt idx="8">
                  <c:v>Gauteng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230</c:v>
                </c:pt>
                <c:pt idx="1">
                  <c:v>292</c:v>
                </c:pt>
                <c:pt idx="2">
                  <c:v>344</c:v>
                </c:pt>
                <c:pt idx="3">
                  <c:v>685</c:v>
                </c:pt>
                <c:pt idx="4">
                  <c:v>763</c:v>
                </c:pt>
                <c:pt idx="5">
                  <c:v>918</c:v>
                </c:pt>
                <c:pt idx="6">
                  <c:v>999</c:v>
                </c:pt>
                <c:pt idx="7">
                  <c:v>1844</c:v>
                </c:pt>
                <c:pt idx="8">
                  <c:v>3652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15-4235-A96D-7B7C53776B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Views</c:v>
                </c:pt>
              </c:strCache>
            </c:strRef>
          </c:tx>
          <c:spPr>
            <a:ln w="50800" cap="flat">
              <a:solidFill>
                <a:srgbClr val="F4A1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122"/>
              </a:solidFill>
              <a:ln w="9525" cap="flat">
                <a:solidFill>
                  <a:srgbClr val="F4A12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2203</c:v>
                </c:pt>
                <c:pt idx="1">
                  <c:v>2973</c:v>
                </c:pt>
                <c:pt idx="2">
                  <c:v>4814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421-43EA-AB22-9C40832541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2A5F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2A-47DE-9CD2-E09F3C3009FE}"/>
              </c:ext>
            </c:extLst>
          </c:dPt>
          <c:dPt>
            <c:idx val="1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2A-47DE-9CD2-E09F3C3009FE}"/>
              </c:ext>
            </c:extLst>
          </c:dPt>
          <c:dPt>
            <c:idx val="2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2A-47DE-9CD2-E09F3C3009FE}"/>
              </c:ext>
            </c:extLst>
          </c:dPt>
          <c:dPt>
            <c:idx val="3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2A-47DE-9CD2-E09F3C3009FE}"/>
              </c:ext>
            </c:extLst>
          </c:dPt>
          <c:dPt>
            <c:idx val="4"/>
            <c:invertIfNegative val="0"/>
            <c:bubble3D val="0"/>
            <c:spPr>
              <a:solidFill>
                <a:srgbClr val="2A5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82A-47DE-9CD2-E09F3C3009FE}"/>
              </c:ext>
            </c:extLst>
          </c:dPt>
          <c:dPt>
            <c:idx val="5"/>
            <c:invertIfNegative val="0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82A-47DE-9CD2-E09F3C3009FE}"/>
              </c:ext>
            </c:extLst>
          </c:dPt>
          <c:dPt>
            <c:idx val="6"/>
            <c:invertIfNegative val="0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82A-47DE-9CD2-E09F3C3009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973</c:v>
                </c:pt>
                <c:pt idx="1">
                  <c:v>1321</c:v>
                </c:pt>
                <c:pt idx="2">
                  <c:v>1536</c:v>
                </c:pt>
                <c:pt idx="3">
                  <c:v>1470</c:v>
                </c:pt>
                <c:pt idx="4">
                  <c:v>1641</c:v>
                </c:pt>
                <c:pt idx="5">
                  <c:v>1652</c:v>
                </c:pt>
                <c:pt idx="6">
                  <c:v>1397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82A-47DE-9CD2-E09F3C3009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DAYS</a:t>
                </a:r>
                <a:r>
                  <a:rPr lang="en-US" baseline="0" dirty="0" smtClean="0"/>
                  <a:t> OF THE WEEK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NUMBER</a:t>
                </a:r>
                <a:r>
                  <a:rPr lang="en-US" baseline="0" dirty="0" smtClean="0"/>
                  <a:t> OF VIEWS</a:t>
                </a:r>
                <a:endParaRPr lang="en-US" dirty="0"/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B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3E"/>
                </a:solidFill>
                <a:latin typeface="Arial"/>
              </a:rPr>
              <a:t>Day Type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5B-4A64-A7C4-BA1EA8854A57}"/>
              </c:ext>
            </c:extLst>
          </c:dPt>
          <c:dPt>
            <c:idx val="1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5B-4A64-A7C4-BA1EA8854A57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55B-4A64-A7C4-BA1EA8854A57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55B-4A64-A7C4-BA1EA8854A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6941</c:v>
                </c:pt>
                <c:pt idx="1">
                  <c:v>3049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5B-4A64-A7C4-BA1EA8854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23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77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5603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1152" y="25603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78624" y="25603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6096" y="25603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25603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1040" y="25603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907792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31152" y="2907792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78624" y="2907792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6096" y="2907792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73568" y="2907792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907792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3255264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31152" y="3255264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8624" y="3255264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26096" y="3255264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3255264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3255264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602736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31152" y="3602736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78624" y="3602736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26096" y="3602736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73568" y="3602736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3602736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11887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</a:t>
            </a:r>
            <a:endParaRPr lang="en-US" sz="5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36576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· South Africa · 10,000 Viewing Records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1965960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7673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smtClean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2000" b="1" smtClean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,000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65760" y="4160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42032" y="3749040"/>
            <a:ext cx="1965960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42032" y="37673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542032" y="4160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Viewers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18304" y="3749040"/>
            <a:ext cx="1965960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18304" y="37673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18304" y="4160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94576" y="3749040"/>
            <a:ext cx="1965960" cy="8229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94576" y="37673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894576" y="41605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07458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5331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2984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691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channels by viewership volume and audience reach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07458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35331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12984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Demographics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04688" y="1691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race, age group, and provincial breakdown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" y="2468880"/>
            <a:ext cx="4023360" cy="114741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6060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1197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608083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Day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2877993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daily patterns, weekday vs weekend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73971"/>
            <a:ext cx="4023360" cy="114231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3603" y="260146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60989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26014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04688" y="287277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findings and strategic observations</a:t>
            </a:r>
            <a:endParaRPr lang="en-US" sz="1100" dirty="0"/>
          </a:p>
        </p:txBody>
      </p:sp>
      <p:sp>
        <p:nvSpPr>
          <p:cNvPr id="24" name="Shape 2"/>
          <p:cNvSpPr/>
          <p:nvPr/>
        </p:nvSpPr>
        <p:spPr>
          <a:xfrm>
            <a:off x="365760" y="3817782"/>
            <a:ext cx="4023360" cy="95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13"/>
          <p:cNvSpPr/>
          <p:nvPr/>
        </p:nvSpPr>
        <p:spPr>
          <a:xfrm>
            <a:off x="530352" y="389333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14"/>
          <p:cNvSpPr/>
          <p:nvPr/>
        </p:nvSpPr>
        <p:spPr>
          <a:xfrm>
            <a:off x="530352" y="389333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Box 30"/>
          <p:cNvSpPr txBox="1"/>
          <p:nvPr/>
        </p:nvSpPr>
        <p:spPr>
          <a:xfrm>
            <a:off x="1115568" y="3956726"/>
            <a:ext cx="2166026" cy="376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Channel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Channels by Total Views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Channel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Viewing by Channel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8595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Audience Demographics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Race Distribution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96012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097280"/>
            <a:ext cx="0" cy="3474720"/>
          </a:xfrm>
          <a:prstGeom prst="line">
            <a:avLst/>
          </a:prstGeom>
          <a:noFill/>
          <a:ln w="19050">
            <a:solidFill>
              <a:srgbClr val="DDE5F0"/>
            </a:solidFill>
            <a:prstDash val="solid"/>
          </a:ln>
        </p:spPr>
      </p:sp>
      <p:graphicFrame>
        <p:nvGraphicFramePr>
          <p:cNvPr id="7" name="Chart 1"/>
          <p:cNvGraphicFramePr/>
          <p:nvPr/>
        </p:nvGraphicFramePr>
        <p:xfrm>
          <a:off x="4754880" y="96012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Audience Demographics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Age Group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669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188720"/>
            <a:ext cx="2651760" cy="109728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234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217920" y="1719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age group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17920" y="197510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7920" y="2468880"/>
            <a:ext cx="2651760" cy="109728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2514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217920" y="299923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age group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17920" y="32552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largest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749040"/>
            <a:ext cx="2651760" cy="109728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3794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17920" y="4279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18–24 age group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17920" y="453542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 share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Audience Demographics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Province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Provinces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0" y="14630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1463040"/>
            <a:ext cx="9144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536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7960" y="1965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6060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606040"/>
            <a:ext cx="91440" cy="960120"/>
          </a:xfrm>
          <a:prstGeom prst="rect">
            <a:avLst/>
          </a:prstGeom>
          <a:solidFill>
            <a:srgbClr val="F4A122"/>
          </a:solidFill>
          <a:ln w="12700">
            <a:solidFill>
              <a:srgbClr val="F4A1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2679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3796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37490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3749040"/>
            <a:ext cx="91440" cy="9601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38221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37960" y="4251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KwaZulu-Natal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Time &amp; Day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Viewership Trend — Jan to Mar 2016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05840"/>
          <a:ext cx="59436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280160"/>
            <a:ext cx="228600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0" y="131673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159105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2,203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675120" y="2514600"/>
            <a:ext cx="228600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25511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0" y="282549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2,973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675120" y="32278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vs prev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675120" y="3749040"/>
            <a:ext cx="228600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37856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0" y="405993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4,814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675120" y="44622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+62% vs prev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Time &amp; Day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Viewership Pattern &amp; Weekday vs Weekend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80773069"/>
              </p:ext>
            </p:extLst>
          </p:nvPr>
        </p:nvGraphicFramePr>
        <p:xfrm>
          <a:off x="274320" y="100584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5760720" y="10058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122"/>
          </a:solidFill>
          <a:ln w="12700">
            <a:solidFill>
              <a:srgbClr val="F4A1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Key Insights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Sports Dominate Viewership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&amp; ICC Cricket WC account for 31% of all views — sports content is the clear #1 category.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24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Male-Heavy Audience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 of viewers are male, likely driven by the high volume of sports content. Female engagement is strongest on E! Entertainment and Africa Magic.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13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Prime Demographic: 25–44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all viewers fall in the 25–44 bracket. This is the core target segment for advertising and content strategy.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Viewership Surges in March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55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recorded 4,814 views — a 62% jump from February, suggesting seasonal spikes tied to sports events or content releases.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56032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624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Gauteng Leads by Far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44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(36.6%) and Western Cape (18.5%) together account for over half of all views. Inland and coastal urban markets are key.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122"/>
          </a:solidFill>
          <a:ln w="12700">
            <a:solidFill>
              <a:srgbClr val="F4A1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 smtClean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7315200" cy="422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Actionable insights derived from viewership data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</a:t>
            </a: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Double down on sports content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SuperSport + ICC Cricket = 31% of all views.</a:t>
            </a:r>
          </a:p>
          <a:p>
            <a:pPr marL="0" indent="0" algn="l">
              <a:buNone/>
            </a:pP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Negotiate more live sports  rights, particularly cricket to sustain this momentum into Q2 and beyond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24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</a:t>
            </a: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 in Female Audience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represent only 9.8% of the audience. Africa Magic already resonates — develop similar entertainment programming to grow this segment.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813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</a:t>
            </a: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</a:t>
            </a: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Friday &amp; Saturday Peaks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biggest viewing days are Saturday and Friday. Schedule high-profile premieres and live events on these days to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audience reach.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435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</a:t>
            </a:r>
            <a:r>
              <a:rPr lang="en-US" sz="1100" b="1" dirty="0" smtClean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25 – 44 demographic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556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 of viewers fall in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 – 44 </a:t>
            </a: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bracket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Premium advertising packages and content partnerships should be structured around this core audience. 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560320"/>
            <a:ext cx="4160520" cy="105156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6243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</a:t>
            </a: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</a:t>
            </a:r>
            <a:r>
              <a:rPr lang="en-US" sz="1100" b="1" dirty="0">
                <a:solidFill>
                  <a:srgbClr val="F4A1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Gauteng &amp; Western Cape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443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provinces account for 55% of total views. Local sponsorships, targeted ads and province-specific scheduling could significantly lift revenue.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66978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162040"/>
          </a:solidFill>
          <a:ln w="12700">
            <a:solidFill>
              <a:srgbClr val="16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Viewership Analysis  ·  2016  ·  South Africa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164592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800" b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971800"/>
            <a:ext cx="164592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9992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2016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3474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971800"/>
            <a:ext cx="164592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9992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474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Analysed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2971800"/>
            <a:ext cx="1645920" cy="10058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9992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Covered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572</Words>
  <Application>Microsoft Office PowerPoint</Application>
  <PresentationFormat>On-screen Show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Analysis 2016</dc:title>
  <dc:subject>PptxGenJS Presentation</dc:subject>
  <dc:creator>PptxGenJS</dc:creator>
  <cp:lastModifiedBy>FIKI NOWEWE</cp:lastModifiedBy>
  <cp:revision>6</cp:revision>
  <dcterms:created xsi:type="dcterms:W3CDTF">2026-04-19T17:33:10Z</dcterms:created>
  <dcterms:modified xsi:type="dcterms:W3CDTF">2026-04-19T18:45:35Z</dcterms:modified>
</cp:coreProperties>
</file>